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D1EE4-03A3-4427-972D-72B9B693ABD5}" v="5" dt="2026-10-17T16:19:15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MA MOHAMMED ALI BORGHAN" userId="72eebe67-ac22-4cc8-8585-aa5a91149e88" providerId="ADAL" clId="{2DA3C0DA-8129-4EFC-AF11-1E1F3EFBA83A}"/>
    <pc:docChg chg="custSel mod modSld">
      <pc:chgData name="ASMA MOHAMMED ALI BORGHAN" userId="72eebe67-ac22-4cc8-8585-aa5a91149e88" providerId="ADAL" clId="{2DA3C0DA-8129-4EFC-AF11-1E1F3EFBA83A}" dt="2026-10-17T16:19:15.255" v="25"/>
      <pc:docMkLst>
        <pc:docMk/>
      </pc:docMkLst>
      <pc:sldChg chg="modSp mod">
        <pc:chgData name="ASMA MOHAMMED ALI BORGHAN" userId="72eebe67-ac22-4cc8-8585-aa5a91149e88" providerId="ADAL" clId="{2DA3C0DA-8129-4EFC-AF11-1E1F3EFBA83A}" dt="2026-10-17T16:19:15.255" v="25"/>
        <pc:sldMkLst>
          <pc:docMk/>
          <pc:sldMk cId="0" sldId="257"/>
        </pc:sldMkLst>
        <pc:spChg chg="mod">
          <ac:chgData name="ASMA MOHAMMED ALI BORGHAN" userId="72eebe67-ac22-4cc8-8585-aa5a91149e88" providerId="ADAL" clId="{2DA3C0DA-8129-4EFC-AF11-1E1F3EFBA83A}" dt="2026-10-17T16:11:21.144" v="0"/>
          <ac:spMkLst>
            <pc:docMk/>
            <pc:sldMk cId="0" sldId="257"/>
            <ac:spMk id="5" creationId="{00000000-0000-0000-0000-000000000000}"/>
          </ac:spMkLst>
        </pc:spChg>
        <pc:spChg chg="mod">
          <ac:chgData name="ASMA MOHAMMED ALI BORGHAN" userId="72eebe67-ac22-4cc8-8585-aa5a91149e88" providerId="ADAL" clId="{2DA3C0DA-8129-4EFC-AF11-1E1F3EFBA83A}" dt="2026-10-17T16:14:30.744" v="13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ASMA MOHAMMED ALI BORGHAN" userId="72eebe67-ac22-4cc8-8585-aa5a91149e88" providerId="ADAL" clId="{2DA3C0DA-8129-4EFC-AF11-1E1F3EFBA83A}" dt="2026-10-17T16:13:34.726" v="12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SMA MOHAMMED ALI BORGHAN" userId="72eebe67-ac22-4cc8-8585-aa5a91149e88" providerId="ADAL" clId="{2DA3C0DA-8129-4EFC-AF11-1E1F3EFBA83A}" dt="2026-10-17T16:19:15.255" v="25"/>
          <ac:spMkLst>
            <pc:docMk/>
            <pc:sldMk cId="0" sldId="257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55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3200" y="1524000"/>
            <a:ext cx="3556000" cy="355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978660"/>
            <a:ext cx="719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64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NASA INTERNATIONAL SPACE APPS CHALLENGE 2026 · THE NEXT FRONTIER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243078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FFF3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Oasis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812800" y="3700780"/>
            <a:ext cx="65405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FFF3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AI farming advisor from the Omani desert to Mars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46304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FFD6B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THE FALAJ TO MARS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40"/>
            <a:ext cx="8000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D6B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Amna · Yaqeen · Asmaa · Sharifa · Jumana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3380264" cy="2221230"/>
          </a:xfrm>
          <a:prstGeom prst="roundRect">
            <a:avLst>
              <a:gd name="adj" fmla="val 4431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Earth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306320"/>
            <a:ext cx="2954507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600" dirty="0"/>
              <a:t>At Falaj al-</a:t>
            </a:r>
            <a:r>
              <a:rPr lang="en-US" sz="1600" dirty="0" err="1"/>
              <a:t>Dariz</a:t>
            </a:r>
            <a:r>
              <a:rPr lang="en-US" sz="1600" dirty="0"/>
              <a:t>, annual date-palm water demand exceeded supply by approximately 10.6% (3,620 mm vs. 3,235 mm per year).</a:t>
            </a:r>
          </a:p>
        </p:txBody>
      </p:sp>
      <p:sp>
        <p:nvSpPr>
          <p:cNvPr id="6" name="Shape 4"/>
          <p:cNvSpPr/>
          <p:nvPr/>
        </p:nvSpPr>
        <p:spPr>
          <a:xfrm>
            <a:off x="4405789" y="1674495"/>
            <a:ext cx="3380343" cy="2221230"/>
          </a:xfrm>
          <a:prstGeom prst="roundRect">
            <a:avLst>
              <a:gd name="adj" fmla="val 4431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1694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space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306320"/>
            <a:ext cx="295458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long Moon and Mars missions, food cannot rely on Earth. Every liter of water and every plant counts.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72188" y="1674495"/>
            <a:ext cx="3380343" cy="2221230"/>
          </a:xfrm>
          <a:prstGeom prst="roundRect">
            <a:avLst>
              <a:gd name="adj" fmla="val 4431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51587" y="1930400"/>
            <a:ext cx="2954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US" sz="54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10.6</a:t>
            </a:r>
            <a:r>
              <a:rPr lang="en-US" sz="5200" b="1" dirty="0">
                <a:solidFill>
                  <a:srgbClr val="B84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085064" y="2554377"/>
            <a:ext cx="2954589" cy="99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</a:t>
            </a:r>
            <a:r>
              <a:rPr lang="en-US" sz="1600" dirty="0"/>
              <a:t>3,620 mm/year demand vs. 3,235 mm/year supply </a:t>
            </a:r>
            <a:r>
              <a:rPr lang="en-US" sz="150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 </a:t>
            </a:r>
            <a:r>
              <a:rPr lang="en-US" sz="1600"/>
              <a:t>water-demand shortfall</a:t>
            </a:r>
            <a:r>
              <a:rPr lang="en-US" sz="150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</a:t>
            </a:r>
            <a:r>
              <a:rPr lang="en-US" sz="1600" dirty="0"/>
              <a:t>Al-Ghafri (2006)</a:t>
            </a:r>
            <a:endParaRPr lang="en-US" sz="1500" dirty="0"/>
          </a:p>
        </p:txBody>
      </p:sp>
      <p:pic>
        <p:nvPicPr>
          <p:cNvPr id="12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0000" y="6238241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66400" y="62382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20"/>
            <a:ext cx="9810750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web app that uses NASA satellite data and AI to tell a farmer when to irrigate, and why.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2784475"/>
            <a:ext cx="5336921" cy="1421130"/>
          </a:xfrm>
          <a:prstGeom prst="roundRect">
            <a:avLst>
              <a:gd name="adj" fmla="val 6926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880" y="3040380"/>
            <a:ext cx="482511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3416300"/>
            <a:ext cx="48251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Irrigate today, or wait [X] days.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62446" y="2784475"/>
            <a:ext cx="5336921" cy="1421130"/>
          </a:xfrm>
          <a:prstGeom prst="roundRect">
            <a:avLst>
              <a:gd name="adj" fmla="val 6926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18351" y="3040380"/>
            <a:ext cx="482511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8351" y="3416300"/>
            <a:ext cx="482511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plain-language reason behind every recommendation.</a:t>
            </a:r>
            <a:endParaRPr lang="en-US" sz="1500" dirty="0"/>
          </a:p>
        </p:txBody>
      </p:sp>
      <p:pic>
        <p:nvPicPr>
          <p:cNvPr id="13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0000" y="6238241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66400" y="62382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NASA Data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81480"/>
          <a:ext cx="10556240" cy="303276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3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NASA dataset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3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What it gives us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BC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SMAP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Soil moisture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4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VIIRS / MODIS (NDVI)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Plant health and vegetation cover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GPM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Rainfall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NASA POWER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Temperature and solar radiation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ECOSTRESS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A0F2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Plant water stress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06984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list to be confirmed from the official challenge text on 28 October.</a:t>
            </a:r>
            <a:endParaRPr lang="en-US" sz="1300" dirty="0"/>
          </a:p>
        </p:txBody>
      </p:sp>
      <p:pic>
        <p:nvPicPr>
          <p:cNvPr id="5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0000" y="6238239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2482850" cy="2145030"/>
          </a:xfrm>
          <a:prstGeom prst="roundRect">
            <a:avLst>
              <a:gd name="adj" fmla="val 4589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030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84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1880" y="238760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2763521"/>
            <a:ext cx="20301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NASA data for the pilot farm in Oman.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8375" y="1674496"/>
            <a:ext cx="2482850" cy="2145030"/>
          </a:xfrm>
          <a:prstGeom prst="roundRect">
            <a:avLst>
              <a:gd name="adj" fmla="val 4589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64280" y="1930400"/>
            <a:ext cx="2030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84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64280" y="238760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64280" y="2763521"/>
            <a:ext cx="203017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machine learning model forecasts crop water stress.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00775" y="1674496"/>
            <a:ext cx="2482850" cy="2145030"/>
          </a:xfrm>
          <a:prstGeom prst="roundRect">
            <a:avLst>
              <a:gd name="adj" fmla="val 4589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6680" y="1930400"/>
            <a:ext cx="2030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84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56680" y="238760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6680" y="2763521"/>
            <a:ext cx="203017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SHAP shows which factors drove the result.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93175" y="1674496"/>
            <a:ext cx="2482850" cy="2145030"/>
          </a:xfrm>
          <a:prstGeom prst="roundRect">
            <a:avLst>
              <a:gd name="adj" fmla="val 4589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9080" y="1930400"/>
            <a:ext cx="2030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84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9080" y="238760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9080" y="2763521"/>
            <a:ext cx="2030171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Map, dashboard and advice in Arabic and English.</a:t>
            </a:r>
            <a:endParaRPr lang="en-US" sz="1500" dirty="0"/>
          </a:p>
        </p:txBody>
      </p:sp>
      <p:pic>
        <p:nvPicPr>
          <p:cNvPr id="19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0000" y="6238239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2221230"/>
          </a:xfrm>
          <a:prstGeom prst="roundRect">
            <a:avLst>
              <a:gd name="adj" fmla="val 4431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and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306321"/>
            <a:ext cx="2954507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[XGBoost or LSTM: final choice]. Inputs: soil moisture, NDVI, rainfall, temperature, solar radiation. Output: crop water-stress level for the coming days.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2221230"/>
          </a:xfrm>
          <a:prstGeom prst="roundRect">
            <a:avLst>
              <a:gd name="adj" fmla="val 4431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1694" y="1930400"/>
            <a:ext cx="2954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B84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[XX]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661694" y="2692400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Accuracy: [metric, e.g. RMSE or R²]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2221230"/>
          </a:xfrm>
          <a:prstGeom prst="roundRect">
            <a:avLst>
              <a:gd name="adj" fmla="val 4431"/>
            </a:avLst>
          </a:prstGeom>
          <a:solidFill>
            <a:srgbClr val="FFFAF5"/>
          </a:solidFill>
          <a:ln w="6350">
            <a:solidFill>
              <a:srgbClr val="ECD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51587" y="1930400"/>
            <a:ext cx="2954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B84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[XX]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51587" y="2692400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area and period: [name, dates]</a:t>
            </a:r>
            <a:endParaRPr lang="en-US" sz="1500" dirty="0"/>
          </a:p>
        </p:txBody>
      </p:sp>
      <p:pic>
        <p:nvPicPr>
          <p:cNvPr id="12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0000" y="6238239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Explainable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21"/>
            <a:ext cx="981075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B84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“Soil moisture is low and temperature is high, so irrigate today.”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9150" y="2410461"/>
            <a:ext cx="10553700" cy="2273300"/>
          </a:xfrm>
          <a:prstGeom prst="roundRect">
            <a:avLst>
              <a:gd name="adj" fmla="val 4190"/>
            </a:avLst>
          </a:prstGeom>
          <a:solidFill>
            <a:srgbClr val="FFFAF5"/>
          </a:solidFill>
          <a:ln w="12700">
            <a:solidFill>
              <a:srgbClr val="E0643A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[Insert SHAP chart: top factors for one recommendation]</a:t>
            </a:r>
            <a:endParaRPr lang="en-US" sz="1600" dirty="0"/>
          </a:p>
        </p:txBody>
      </p:sp>
      <p:pic>
        <p:nvPicPr>
          <p:cNvPr id="5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00" y="6238239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A0F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9150" y="1677671"/>
            <a:ext cx="6337300" cy="3289300"/>
          </a:xfrm>
          <a:prstGeom prst="roundRect">
            <a:avLst>
              <a:gd name="adj" fmla="val 2896"/>
            </a:avLst>
          </a:prstGeom>
          <a:solidFill>
            <a:srgbClr val="FFFAF5"/>
          </a:solidFill>
          <a:ln w="12700">
            <a:solidFill>
              <a:srgbClr val="E0643A"/>
            </a:solidFill>
            <a:prstDash val="solid"/>
          </a:ln>
        </p:spPr>
        <p:txBody>
          <a:bodyPr wrap="square" lIns="655362" tIns="0" rIns="655362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[Insert screenshot: map, dashboard and recommendation]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11796" y="1671321"/>
            <a:ext cx="3610864" cy="332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804" indent="-209804" algn="l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 map</a:t>
            </a:r>
            <a:endParaRPr lang="en-US" sz="1700" dirty="0"/>
          </a:p>
          <a:p>
            <a:pPr marL="209804" indent="-209804" algn="l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dashboard</a:t>
            </a:r>
            <a:endParaRPr lang="en-US" sz="1700" dirty="0"/>
          </a:p>
          <a:p>
            <a:pPr marL="209804" indent="-209804" algn="l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Advice in Arabic and English</a:t>
            </a:r>
            <a:endParaRPr lang="en-US" sz="1700" dirty="0"/>
          </a:p>
          <a:p>
            <a:pPr marL="209804" indent="-209804" algn="l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0A0F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Mars Mode button</a:t>
            </a:r>
            <a:endParaRPr lang="en-US" sz="1700" dirty="0"/>
          </a:p>
        </p:txBody>
      </p:sp>
      <p:pic>
        <p:nvPicPr>
          <p:cNvPr id="5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00" y="6238242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5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FF3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Mars Mode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321"/>
            <a:ext cx="9810750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FFF3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button switches the system to a closed greenhouse: recycled water, artificial light and Mars conditions.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2781300"/>
            <a:ext cx="981075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064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conceptual prototype with simulated sensors, not a flight-ready product.</a:t>
            </a:r>
            <a:endParaRPr lang="en-US" sz="1800" dirty="0"/>
          </a:p>
        </p:txBody>
      </p:sp>
      <p:pic>
        <p:nvPicPr>
          <p:cNvPr id="5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00" y="6238242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D6B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FFD6B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FF3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807210"/>
          </a:xfrm>
          <a:prstGeom prst="roundRect">
            <a:avLst>
              <a:gd name="adj" fmla="val 5446"/>
            </a:avLst>
          </a:prstGeom>
          <a:solidFill>
            <a:srgbClr val="151B45"/>
          </a:solidFill>
          <a:ln w="6350">
            <a:solidFill>
              <a:srgbClr val="2A3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1880" y="1930400"/>
            <a:ext cx="2954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E06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[XX]%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71880" y="2692400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3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estimated water saving. Add after calculation.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807210"/>
          </a:xfrm>
          <a:prstGeom prst="roundRect">
            <a:avLst>
              <a:gd name="adj" fmla="val 5446"/>
            </a:avLst>
          </a:prstGeom>
          <a:solidFill>
            <a:srgbClr val="151B45"/>
          </a:solidFill>
          <a:ln w="6350">
            <a:solidFill>
              <a:srgbClr val="2A3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1694" y="1930400"/>
            <a:ext cx="2954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E06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[XX]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661694" y="2692400"/>
            <a:ext cx="31212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3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[farm or region tested in Oman]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807210"/>
          </a:xfrm>
          <a:prstGeom prst="roundRect">
            <a:avLst>
              <a:gd name="adj" fmla="val 5446"/>
            </a:avLst>
          </a:prstGeom>
          <a:solidFill>
            <a:srgbClr val="151B45"/>
          </a:solidFill>
          <a:ln w="6350">
            <a:solidFill>
              <a:srgbClr val="2A3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51587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3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306321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3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with real farmers, add more crops, refine Mars Mode.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84047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kern="0" spc="200" dirty="0">
                <a:solidFill>
                  <a:srgbClr val="FFD6B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THE FALAJ TO MARS</a:t>
            </a:r>
            <a:endParaRPr lang="en-US" sz="1600" dirty="0"/>
          </a:p>
        </p:txBody>
      </p:sp>
      <p:pic>
        <p:nvPicPr>
          <p:cNvPr id="13" name="Image 0" descr="Red Oasis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6172200"/>
            <a:ext cx="355600" cy="355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0000" y="6238242"/>
            <a:ext cx="29431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D6B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Oasis · NASA Space Apps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FFD6B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 Oasis: Slide Template (10 slides)">
  <a:themeElements>
    <a:clrScheme name="Red Oasis: Slide Template (10 slides)">
      <a:dk1>
        <a:srgbClr val="0A0F2C"/>
      </a:dk1>
      <a:lt1>
        <a:srgbClr val="FFF3EA"/>
      </a:lt1>
      <a:dk2>
        <a:srgbClr val="47485C"/>
      </a:dk2>
      <a:lt2>
        <a:srgbClr val="E7DCD7"/>
      </a:lt2>
      <a:accent1>
        <a:srgbClr val="7A5A4A"/>
      </a:accent1>
      <a:accent2>
        <a:srgbClr val="B8472A"/>
      </a:accent2>
      <a:accent3>
        <a:srgbClr val="FFD6BD"/>
      </a:accent3>
      <a:accent4>
        <a:srgbClr val="E0643A"/>
      </a:accent4>
      <a:accent5>
        <a:srgbClr val="151B45"/>
      </a:accent5>
      <a:accent6>
        <a:srgbClr val="9AA0A6"/>
      </a:accent6>
      <a:hlink>
        <a:srgbClr val="0563C1"/>
      </a:hlink>
      <a:folHlink>
        <a:srgbClr val="954F72"/>
      </a:folHlink>
    </a:clrScheme>
    <a:fontScheme name="Red Oasis: Slide Template (10 slides)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525</Words>
  <Application>Microsoft Office PowerPoint</Application>
  <PresentationFormat>Widescreen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Open Sans</vt:lpstr>
      <vt:lpstr>Red Oasis: Slide Template (10 slides)</vt:lpstr>
      <vt:lpstr>Red Oasis</vt:lpstr>
      <vt:lpstr>The Problem</vt:lpstr>
      <vt:lpstr>Our Solution</vt:lpstr>
      <vt:lpstr>NASA Data</vt:lpstr>
      <vt:lpstr>How It Works</vt:lpstr>
      <vt:lpstr>AI Model</vt:lpstr>
      <vt:lpstr>Explainable AI</vt:lpstr>
      <vt:lpstr>The App</vt:lpstr>
      <vt:lpstr>Mars Mode</vt:lpstr>
      <vt:lpstr>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Oasis: Slide Template (10 slides)</dc:title>
  <dc:subject/>
  <dc:creator/>
  <cp:lastModifiedBy>ASMA MOHAMMED ALI BORGHAN</cp:lastModifiedBy>
  <cp:revision>1</cp:revision>
  <dcterms:created xsi:type="dcterms:W3CDTF">2026-10-17T12:53:58Z</dcterms:created>
  <dcterms:modified xsi:type="dcterms:W3CDTF">2026-10-17T16:19:24Z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2026-10-17T16:11:31Z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dc2b733b-a224-4576-9839-d0ca720b0032</vt:lpwstr>
  </property>
  <property fmtid="{D5CDD505-2E9C-101B-9397-08002B2CF9AE}" pid="7" name="MSIP_Label_defa4170-0d19-0005-0004-bc88714345d2_ActionId">
    <vt:lpwstr>8df45ca5-5781-4176-beba-b8b88a375ab2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